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CC8E00"/>
          </a:solidFill>
          <a:ln w="12700">
            <a:solidFill>
              <a:srgbClr val="CC8E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914400"/>
            <a:ext cx="2926080" cy="3108960"/>
          </a:xfrm>
          <a:prstGeom prst="rect">
            <a:avLst/>
          </a:prstGeom>
          <a:solidFill>
            <a:srgbClr val="252B47"/>
          </a:solidFill>
          <a:ln w="1905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72200" y="1188720"/>
            <a:ext cx="274320" cy="27432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188720"/>
            <a:ext cx="274320" cy="27432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1188720"/>
            <a:ext cx="274320" cy="27432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12344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LED條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274320" cy="27432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645920"/>
            <a:ext cx="274320" cy="27432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95160" y="1645920"/>
            <a:ext cx="274320" cy="27432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LED條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200" y="2103120"/>
            <a:ext cx="274320" cy="27432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103120"/>
            <a:ext cx="274320" cy="27432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2103120"/>
            <a:ext cx="274320" cy="27432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1488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LED條 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2560320"/>
            <a:ext cx="274320" cy="274320"/>
          </a:xfrm>
          <a:prstGeom prst="ellipse">
            <a:avLst/>
          </a:prstGeom>
          <a:solidFill>
            <a:srgbClr val="252B47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560320"/>
            <a:ext cx="274320" cy="274320"/>
          </a:xfrm>
          <a:prstGeom prst="ellipse">
            <a:avLst/>
          </a:prstGeom>
          <a:solidFill>
            <a:srgbClr val="252B47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2560320"/>
            <a:ext cx="274320" cy="274320"/>
          </a:xfrm>
          <a:prstGeom prst="ellipse">
            <a:avLst/>
          </a:prstGeom>
          <a:solidFill>
            <a:srgbClr val="252B47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606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LED條 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3017520"/>
            <a:ext cx="274320" cy="274320"/>
          </a:xfrm>
          <a:prstGeom prst="ellipse">
            <a:avLst/>
          </a:prstGeom>
          <a:solidFill>
            <a:srgbClr val="252B47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3017520"/>
            <a:ext cx="274320" cy="274320"/>
          </a:xfrm>
          <a:prstGeom prst="ellipse">
            <a:avLst/>
          </a:prstGeom>
          <a:solidFill>
            <a:srgbClr val="252B47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3017520"/>
            <a:ext cx="274320" cy="274320"/>
          </a:xfrm>
          <a:prstGeom prst="ellipse">
            <a:avLst/>
          </a:prstGeom>
          <a:solidFill>
            <a:srgbClr val="252B47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30632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LED條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3520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WS2812B × 5條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6400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基於ESP32之紅外線感測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0040" y="13258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樓梯追逐燈控制系統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320040" y="2057400"/>
            <a:ext cx="3200400" cy="36576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194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嵌入式系統課程專題報告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0040" y="2834640"/>
            <a:ext cx="5212080" cy="1554480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2926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開發平台：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74520" y="2926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ESP32 開發板（標準版）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2644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感測元件：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74520" y="3264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紅外線避障模組 MH-B × 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602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燈條規格：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74520" y="36027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WS2812B RGB LED × 5 條（每條 3 顆）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9410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電源供應：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74520" y="39410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18650 鋰電池 × 3 串聯（約 11.1V）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·  FastLED  ·  WS2812B  ·  IR 感測器  ·  嵌入式系統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　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713232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02920" cy="71323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1704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系統簡介與設計目標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114800" cy="713232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502920" cy="71323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0312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084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硬體元件介紹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114800" cy="713232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502920" cy="71323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1752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992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電路設計說明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4114800" cy="713232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49040"/>
            <a:ext cx="502920" cy="71323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93192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9136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軟體設計說明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4114800" cy="713232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005840"/>
            <a:ext cx="502920" cy="71323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18872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11704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系統運作流程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920240"/>
            <a:ext cx="4114800" cy="713232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920240"/>
            <a:ext cx="502920" cy="71323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10312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084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遇到的問題與解決方法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2834640"/>
            <a:ext cx="4114800" cy="713232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834640"/>
            <a:ext cx="502920" cy="713232"/>
          </a:xfrm>
          <a:prstGeom prst="rect">
            <a:avLst/>
          </a:prstGeom>
          <a:solidFill>
            <a:srgbClr val="CC8E00"/>
          </a:solidFill>
          <a:ln w="12700">
            <a:solidFill>
              <a:srgbClr val="CC8E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01752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29992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結論與心得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749040"/>
            <a:ext cx="4114800" cy="713232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749040"/>
            <a:ext cx="502920" cy="713232"/>
          </a:xfrm>
          <a:prstGeom prst="rect">
            <a:avLst/>
          </a:prstGeom>
          <a:solidFill>
            <a:srgbClr val="CC8E00"/>
          </a:solidFill>
          <a:ln w="12700">
            <a:solidFill>
              <a:srgbClr val="CC8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931920"/>
            <a:ext cx="466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40680" y="39136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附錄：完整程式碼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 系統簡介與設計目標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8229600" cy="1005840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本專題設計一套以 ESP32 微控制器為核心的智慧樓梯照明系統。系統整合紅外線感測器偵測行人行進方向，驅動 5 條 WS2812B 可定址 LED 燈條產生追逐燈效果，兼顧安全照明與視覺美感，同時有效節省能源。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97480" cy="2560320"/>
          </a:xfrm>
          <a:prstGeom prst="rect">
            <a:avLst/>
          </a:prstGeom>
          <a:solidFill>
            <a:srgbClr val="202740"/>
          </a:solidFill>
          <a:ln w="1270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2697480" cy="50292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568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設計目標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5420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偵測行人上下樓方向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依序點亮/熄滅 LED 燈條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675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暖黃色光源提升安全性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1920240"/>
            <a:ext cx="2697480" cy="2560320"/>
          </a:xfrm>
          <a:prstGeom prst="rect">
            <a:avLst/>
          </a:prstGeom>
          <a:solidFill>
            <a:srgbClr val="202740"/>
          </a:solidFill>
          <a:ln w="1270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1920240"/>
            <a:ext cx="2697480" cy="502920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19568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技術亮點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93008" y="25420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FastLED 函式庫控制 WS2812B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93008" y="3108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GPIO 電壓準位配對設計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93008" y="3675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低功耗感測觸發機制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54496" y="1920240"/>
            <a:ext cx="2697480" cy="2560320"/>
          </a:xfrm>
          <a:prstGeom prst="rect">
            <a:avLst/>
          </a:prstGeom>
          <a:solidFill>
            <a:srgbClr val="202740"/>
          </a:solidFill>
          <a:ln w="1270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920240"/>
            <a:ext cx="2697480" cy="502920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95681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🔧 開發歷程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91656" y="25420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Arduino Uno 原型開發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91656" y="3108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移植至 ESP32 平台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91656" y="3675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解決多項硬體相容問題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基於ESP32之紅外線感測樓梯追逐燈控制系統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硬體元件介紹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04672"/>
            <a:ext cx="8229600" cy="960120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04672"/>
            <a:ext cx="164592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051560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8961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ESP32 開發板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2560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896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標準版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80160" y="128016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雙核心 240MHz，支援 Wi-Fi/BT，3.3V GPIO，34 支可用腳位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847088"/>
            <a:ext cx="8229600" cy="960120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47088"/>
            <a:ext cx="164592" cy="96012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093976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B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19385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WS2812B RGB LED 燈條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1956816"/>
            <a:ext cx="2560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938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條，每條 3 顆，12V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80160" y="23225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可定址 RGB LED，GRB 色序，單線 800Kbps 資料傳輸協定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8229600" cy="960120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889504"/>
            <a:ext cx="164592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136392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29809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紅外線避障模組 MH-B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2999232"/>
            <a:ext cx="2560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9809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2，附 LM358 比較器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80160" y="336499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主動式 IR 感測，可調距離，數位輸出，觸發時低電位（LOW）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960120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931920"/>
            <a:ext cx="164592" cy="9601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4178808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80160" y="4023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18650 鋰電池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0" y="4041648"/>
            <a:ext cx="2560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3 串聯，約 11.1V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280160" y="44074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供電給 LED 燈條，實際輸出接近 12V，需注意 ESP32 供電分離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基於ESP32之紅外線感測樓梯追逐燈控制系統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 電路設計說明  ·  GPIO 腳位分配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49808"/>
          <a:ext cx="8229600" cy="310896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32004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GPIO 腳位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40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上行感測器（IR UP）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4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INPUT，感測器 VCC 接 3.3V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下行感測器（IR DOWN）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4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INPUT，感測器 VCC 接 3.3V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條 1 Din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4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WS2812B 資料輸入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條 2 Din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4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32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WS2812B 資料輸入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條 3 Din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4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WS2812B 資料輸入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條 4 Din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4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WS2812B 資料輸入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B4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LED 條 5 Din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B4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0D6E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WS2812B 資料輸入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74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202740"/>
          </a:solidFill>
          <a:ln w="19050">
            <a:solidFill>
              <a:srgbClr val="CC8E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977640"/>
            <a:ext cx="164592" cy="868680"/>
          </a:xfrm>
          <a:prstGeom prst="rect">
            <a:avLst/>
          </a:prstGeom>
          <a:solidFill>
            <a:srgbClr val="CC8E00"/>
          </a:solidFill>
          <a:ln w="12700">
            <a:solidFill>
              <a:srgbClr val="CC8E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005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電路設計注意事項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4297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GPIO 6–11 不可用（連接內部 Flash）　• GPIO 12、5 為 Strapping Pin，影響開機電壓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感測器 VCC 須接 ESP32 的 3.3V 腳位（非 5V），避免超壓損壞 GPIO　• LED 電源獨立供應（11.1V 電池組）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基於ESP32之紅外線感測樓梯追逐燈控制系統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 軟體設計說明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4114800" cy="4069080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49808"/>
            <a:ext cx="4114800" cy="41148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86384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核心函式說明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261872"/>
            <a:ext cx="1371600" cy="292608"/>
          </a:xfrm>
          <a:prstGeom prst="rect">
            <a:avLst/>
          </a:prstGeom>
          <a:solidFill>
            <a:srgbClr val="1A1F3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618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tatTatCa()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126187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熄滅所有 LED 燈條，初始化及重置使用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1371600" cy="292608"/>
          </a:xfrm>
          <a:prstGeom prst="rect">
            <a:avLst/>
          </a:prstGeom>
          <a:solidFill>
            <a:srgbClr val="1A1F3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20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batStrip(i)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點亮指定索引 i 的燈條，顏色為暖黃色 MAU_VANG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78608"/>
            <a:ext cx="1371600" cy="292608"/>
          </a:xfrm>
          <a:prstGeom prst="rect">
            <a:avLst/>
          </a:prstGeom>
          <a:solidFill>
            <a:srgbClr val="1A1F3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78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tatStrip(i)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25786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熄滅指定索引 i 的燈條（填入黑色）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36976"/>
            <a:ext cx="1371600" cy="292608"/>
          </a:xfrm>
          <a:prstGeom prst="rect">
            <a:avLst/>
          </a:prstGeom>
          <a:solidFill>
            <a:srgbClr val="1A1F3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36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0" y="323697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初始化序列埠、GPIO 模式、5 條 WS2812B 燈條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95344"/>
            <a:ext cx="1371600" cy="292608"/>
          </a:xfrm>
          <a:prstGeom prst="rect">
            <a:avLst/>
          </a:prstGeom>
          <a:solidFill>
            <a:srgbClr val="1A1F3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95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389534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持續偵測 IR 感測器，觸發追逐燈上行或下行序列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749808"/>
            <a:ext cx="3931920" cy="1874520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749808"/>
            <a:ext cx="3931920" cy="411480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78638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重要常數定義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12618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IR_PIN_UP    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IR_PIN_DOWN  16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NUM_STRIPS   5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LEDS_PER_STRIP 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FF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MAU_VANG = CRGB(255, 180, 0)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3931920" cy="2075688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743200"/>
            <a:ext cx="3931920" cy="411480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77977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時序參數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點亮間隔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95160" y="3264408"/>
            <a:ext cx="14630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255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全亮等待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95160" y="3648456"/>
            <a:ext cx="14630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ms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92040" y="4014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熄滅間隔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95160" y="4032504"/>
            <a:ext cx="14630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92040" y="43982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主迴圈延遲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95160" y="4416552"/>
            <a:ext cx="146304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基於ESP32之紅外線感測樓梯追逐燈控制系統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 系統運作流程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777240"/>
            <a:ext cx="2011680" cy="41148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777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系統啟動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0" cy="201168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7408" y="12801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66160" y="1389888"/>
            <a:ext cx="2011680" cy="411480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3898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 LED 熄滅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801368"/>
            <a:ext cx="0" cy="201168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8928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66160" y="2002536"/>
            <a:ext cx="2011680" cy="457200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20025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偵測 IR 感測器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459736"/>
            <a:ext cx="0" cy="201168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25511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03320" y="2651760"/>
            <a:ext cx="1737360" cy="457200"/>
          </a:xfrm>
          <a:prstGeom prst="rect">
            <a:avLst/>
          </a:prstGeom>
          <a:solidFill>
            <a:srgbClr val="202740"/>
          </a:solidFill>
          <a:ln w="1905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0332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觸發感測器？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3320" y="2880360"/>
            <a:ext cx="-169164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4520" y="2880360"/>
            <a:ext cx="0" cy="201168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788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感測器 1 (上行)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081528"/>
            <a:ext cx="3200400" cy="1463040"/>
          </a:xfrm>
          <a:prstGeom prst="rect">
            <a:avLst/>
          </a:prstGeom>
          <a:solidFill>
            <a:srgbClr val="202740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81528"/>
            <a:ext cx="32004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⬆ 上行燈光序列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520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條 1→5 依序點亮（間隔 300ms）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全亮後等待 1000ms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160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條 1→5 依序熄滅（間隔 400ms）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40680" y="2880360"/>
            <a:ext cx="1691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2880360"/>
            <a:ext cx="0" cy="201168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788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感測器 2 (下行)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69280" y="3081528"/>
            <a:ext cx="3200400" cy="1463040"/>
          </a:xfrm>
          <a:prstGeom prst="rect">
            <a:avLst/>
          </a:prstGeom>
          <a:solidFill>
            <a:srgbClr val="202740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0" y="3081528"/>
            <a:ext cx="32004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099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⬇ 下行燈光序列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06440" y="3520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條 5→1 依序點亮（間隔 300ms）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0644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全亮後等待 1000ms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06440" y="4160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條 5→1 依序熄滅（間隔 400ms）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4617720"/>
            <a:ext cx="0" cy="-265176"/>
          </a:xfrm>
          <a:prstGeom prst="line">
            <a:avLst/>
          </a:prstGeom>
          <a:noFill/>
          <a:ln w="12700">
            <a:solidFill>
              <a:srgbClr val="8892B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3383280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↩ 回到偵測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基於ESP32之紅外線感測樓梯追逐燈控制系統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 遇到的問題與解決方法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04672"/>
            <a:ext cx="4114800" cy="1920240"/>
          </a:xfrm>
          <a:prstGeom prst="rect">
            <a:avLst/>
          </a:prstGeom>
          <a:solidFill>
            <a:srgbClr val="20274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04672"/>
            <a:ext cx="41148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877824"/>
            <a:ext cx="256032" cy="25603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868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14400" y="868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問題：GPIO 6–11 及 Strapping Pin 限制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280160"/>
            <a:ext cx="502920" cy="228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80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15544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避開 GPIO 6–11（Flash）、GPIO 12/5（Strapping），改用 GPIO 4、13、14、16、26、27、32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804672"/>
            <a:ext cx="4114800" cy="1920240"/>
          </a:xfrm>
          <a:prstGeom prst="rect">
            <a:avLst/>
          </a:prstGeom>
          <a:solidFill>
            <a:srgbClr val="20274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804672"/>
            <a:ext cx="41148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56048" y="877824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868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0" y="868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問題：將 WS2812B 誤判為普通 LED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1280160"/>
            <a:ext cx="50292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2801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83480" y="15544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發現需使用 FastLED 函式庫，加入 addLeds&lt;WS2812B, PIN, GRB&gt;() 並正確指定 GRB 色序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16352"/>
            <a:ext cx="4114800" cy="1920240"/>
          </a:xfrm>
          <a:prstGeom prst="rect">
            <a:avLst/>
          </a:prstGeom>
          <a:solidFill>
            <a:srgbClr val="20274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816352"/>
            <a:ext cx="41148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889504"/>
            <a:ext cx="256032" cy="256032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14400" y="2880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問題：感測器輸出 5V 超出 ESP32 GPIO 3.3V 上限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3291840"/>
            <a:ext cx="502920" cy="22860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2918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4360" y="3566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將感測模組 VCC 改接 ESP32 的 3.3V 腳位，使輸出電壓降至安全範圍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816352"/>
            <a:ext cx="4114800" cy="1920240"/>
          </a:xfrm>
          <a:prstGeom prst="rect">
            <a:avLst/>
          </a:prstGeom>
          <a:solidFill>
            <a:srgbClr val="202740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816352"/>
            <a:ext cx="411480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2889504"/>
            <a:ext cx="256032" cy="25603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03520" y="2880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問題：從 Arduino Uno 移植至 ESP32 的相容性問題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3291840"/>
            <a:ext cx="502920" cy="2286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2918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83480" y="3566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重新檢視所有 #include 與 pin 定義，FastLED 取代 Adafruit NeoPixel，調整時序常數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基於ESP32之紅外線感測樓梯追逐燈控制系統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 結論與心得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8229600" cy="914400"/>
          </a:xfrm>
          <a:prstGeom prst="rect">
            <a:avLst/>
          </a:prstGeom>
          <a:solidFill>
            <a:srgbClr val="202740"/>
          </a:solidFill>
          <a:ln w="1270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80467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本專題成功實現以 ESP32 驅動 5 條 WS2812B 燈條的樓梯追逐燈系統，透過紅外線感測器精確判斷行人方向，提供安全、美觀的動態照明效果。開發過程中克服了多項硬體相容性挑戰，深化了對嵌入式系統設計的實際理解。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97480" cy="2697480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2697480" cy="502920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653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功能實現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45059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雙向感測偵測行人方向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07238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追逐燈序列正確運作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69417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暖黃色 RGB 顯示正常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55848" y="1828800"/>
            <a:ext cx="2697480" cy="2697480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1828800"/>
            <a:ext cx="2697480" cy="50292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18653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📚 學習收穫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93008" y="245059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FastLED 函式庫應用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93008" y="307238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ESP32 GPIO 架構深入了解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93008" y="369417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電壓準位設計實務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4496" y="1828800"/>
            <a:ext cx="2697480" cy="2697480"/>
          </a:xfrm>
          <a:prstGeom prst="rect">
            <a:avLst/>
          </a:prstGeom>
          <a:solidFill>
            <a:srgbClr val="202740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828800"/>
            <a:ext cx="2697480" cy="502920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8653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🚀 未來展望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91656" y="245059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加入 PWM 調光功能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91656" y="307238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Wi-Fi 遠端控制整合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91656" y="369417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多色彩模式設計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64515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參考資料：ESP32 技術文件 · FastLED 函式庫官方文件 · WS2812B 資料手冊 · Arduino 參考手冊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基於ESP32之紅外線感測樓梯追逐燈控制系統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 附錄：完整程式碼（ESP32 版本）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8229600" cy="4114800"/>
          </a:xfrm>
          <a:prstGeom prst="rect">
            <a:avLst/>
          </a:prstGeom>
          <a:solidFill>
            <a:srgbClr val="0D1117"/>
          </a:solidFill>
          <a:ln w="12700">
            <a:solidFill>
              <a:srgbClr val="252B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804672"/>
            <a:ext cx="155448" cy="15544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804672"/>
            <a:ext cx="155448" cy="15544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804672"/>
            <a:ext cx="155448" cy="15544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795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stair_led_esp32.ino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170432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&lt;FastLED.h&gt;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IR_PIN_UP    4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IR_PIN_DOWN  16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NUM_STRIPS   5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LEDS_PER_STRIP 3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CRGB leds[NUM_STRIPS][LEDS_PER_STRIP];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MAU_VANG CRGB(255, 180, 0)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tatTatCa() {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NUM_STRIPS; i++)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fill_solid(leds[i], LEDS_PER_STRIP,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CRGB::Black);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FastLED.show();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batStrip(int i) {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fill_solid(leds[i], LEDS_PER_STRIP,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MAU_VANG);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FastLED.show();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tatStrip(int i) {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fill_solid(leds[i], LEDS_PER_STRIP,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CRGB::Black);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FastLED.show();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0" cy="356616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Serial.begin(115200);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pinMode(IR_PIN_UP, INPUT);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pinMode(IR_PIN_DOWN, INPUT);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FastLED.addLeds&lt;WS2812B,13,GRB&gt;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(leds[0], LEDS_PER_STRIP);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FastLED.addLeds&lt;WS2812B,32,GRB&gt;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(leds[1], LEDS_PER_STRIP);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FastLED.addLeds&lt;WS2812B,14,GRB&gt;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(leds[2], LEDS_PER_STRIP);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FastLED.addLeds&lt;WS2812B,27,GRB&gt;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(leds[3], LEDS_PER_STRIP);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FastLED.addLeds&lt;WS2812B,26,GRB&gt;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(leds[4], LEDS_PER_STRIP);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tatTatCa();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len = digitalRead(IR_PIN_UP);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xuong = digitalRead(IR_PIN_DOWN);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(len == 0) {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i=0;i&lt;NUM_STRIPS;i++)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 batStrip(i); delay(300); }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delay(1000);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i=0;i&lt;NUM_STRIPS;i++)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 tatStrip(i); delay(400); }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delay(300);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(xuong == 0) {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for(int i=NUM_STRIPS-1;i&gt;=0;i--)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 batStrip(i); delay(300); }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delay(1000);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for(int i=NUM_STRIPS-1;i&gt;=0;i--)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 tatStrip(i); delay(400); }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delay(300); }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{ tatTatCa(); }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delay(100); }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58000" y="4645152"/>
            <a:ext cx="1828800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4645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FastLED 函式庫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52B47"/>
          </a:solidFill>
          <a:ln w="12700">
            <a:solidFill>
              <a:srgbClr val="252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基於ESP32之紅外線感測樓梯追逐燈控制系統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基於ESP32之紅外線感測樓梯追逐燈控制系統</dc:title>
  <dc:subject>PptxGenJS Presentation</dc:subject>
  <dc:creator>嵌入式系統專題</dc:creator>
  <cp:lastModifiedBy>嵌入式系統專題</cp:lastModifiedBy>
  <cp:revision>1</cp:revision>
  <dcterms:created xsi:type="dcterms:W3CDTF">2026-04-26T11:08:39Z</dcterms:created>
  <dcterms:modified xsi:type="dcterms:W3CDTF">2026-04-26T11:08:39Z</dcterms:modified>
</cp:coreProperties>
</file>